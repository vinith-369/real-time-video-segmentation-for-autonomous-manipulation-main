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Mukta Light" panose="020B0000000000000000" pitchFamily="34" charset="77"/>
      <p:regular r:id="rId12"/>
    </p:embeddedFont>
    <p:embeddedFont>
      <p:font typeface="Prompt Medium" panose="00000600000000000000" pitchFamily="2" charset="-3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21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845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360533"/>
            <a:ext cx="7415927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Real-Time Video Segmentation for Autonomous Robotic Manipulation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5474018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Vinith </a:t>
            </a:r>
            <a:r>
              <a:rPr lang="en-US" sz="190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Reddy   </a:t>
            </a:r>
            <a:endParaRPr lang="en-US" sz="1900" dirty="0"/>
          </a:p>
        </p:txBody>
      </p:sp>
      <p:pic>
        <p:nvPicPr>
          <p:cNvPr id="6" name="Picture 5" descr="A black background with white spots&#10;&#10;AI-generated content may be incorrect.">
            <a:extLst>
              <a:ext uri="{FF2B5EF4-FFF2-40B4-BE49-F238E27FC236}">
                <a16:creationId xmlns:a16="http://schemas.microsoft.com/office/drawing/2014/main" id="{BA535480-F977-8DCB-22A1-C3E0EE090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0" y="7458242"/>
            <a:ext cx="22860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0185" y="921782"/>
            <a:ext cx="4786193" cy="598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Project Overview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240185" y="1801892"/>
            <a:ext cx="3724275" cy="2981563"/>
          </a:xfrm>
          <a:prstGeom prst="roundRect">
            <a:avLst>
              <a:gd name="adj" fmla="val 303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463070" y="2024777"/>
            <a:ext cx="646033" cy="646033"/>
          </a:xfrm>
          <a:prstGeom prst="roundRect">
            <a:avLst>
              <a:gd name="adj" fmla="val 14152660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0711" y="2202418"/>
            <a:ext cx="290751" cy="2907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63070" y="2858691"/>
            <a:ext cx="2393037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Objective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463070" y="3270409"/>
            <a:ext cx="3278505" cy="12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Enable autonomous robotic assistance in surgery through real-time semantic segmentation of surgical scenes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10152340" y="1801892"/>
            <a:ext cx="3724275" cy="2981563"/>
          </a:xfrm>
          <a:prstGeom prst="roundRect">
            <a:avLst>
              <a:gd name="adj" fmla="val 303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0375225" y="2024777"/>
            <a:ext cx="646033" cy="646033"/>
          </a:xfrm>
          <a:prstGeom prst="roundRect">
            <a:avLst>
              <a:gd name="adj" fmla="val 14152660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52867" y="2202418"/>
            <a:ext cx="290751" cy="29075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75225" y="2858691"/>
            <a:ext cx="2393037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Input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10375225" y="3270409"/>
            <a:ext cx="3278505" cy="967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30Hz RGB video stream from daVinci Surgical System performing object manipulation tasks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240185" y="4971336"/>
            <a:ext cx="7636431" cy="2336483"/>
          </a:xfrm>
          <a:prstGeom prst="roundRect">
            <a:avLst>
              <a:gd name="adj" fmla="val 387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6463070" y="5194221"/>
            <a:ext cx="646033" cy="646033"/>
          </a:xfrm>
          <a:prstGeom prst="roundRect">
            <a:avLst>
              <a:gd name="adj" fmla="val 14152660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40711" y="5371862"/>
            <a:ext cx="290751" cy="29075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63070" y="6028134"/>
            <a:ext cx="2393037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Output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463070" y="6439852"/>
            <a:ext cx="7190661" cy="64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Binary segmentation masks highlighting robot arms and manipulated objects for imitation learning</a:t>
            </a:r>
            <a:endParaRPr lang="en-US" sz="1650" dirty="0"/>
          </a:p>
        </p:txBody>
      </p:sp>
      <p:pic>
        <p:nvPicPr>
          <p:cNvPr id="19" name="Picture 18" descr="A black background with white spots&#10;&#10;AI-generated content may be incorrect.">
            <a:extLst>
              <a:ext uri="{FF2B5EF4-FFF2-40B4-BE49-F238E27FC236}">
                <a16:creationId xmlns:a16="http://schemas.microsoft.com/office/drawing/2014/main" id="{8BAE9D56-E462-FC49-51FA-E99BDD599B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44400" y="7458242"/>
            <a:ext cx="22860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453991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Why This Matters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75689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The Challenge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3346609"/>
            <a:ext cx="8175665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Current daVinci Surgical System operates under full teleoperation, limiting scalability. Automating the third arm enhances surgical dexterity but requires robust, real-time perception.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477857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The Gap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864037" y="5368290"/>
            <a:ext cx="8175665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Existing zero-shot methods like SAM2 offer high-quality masks but are too slow (1.6 FPS). Classical CV techniques are fast but fail to generalize due to occlusions and lighting variations.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471779" y="2510076"/>
            <a:ext cx="4479846" cy="4265533"/>
          </a:xfrm>
          <a:prstGeom prst="roundRect">
            <a:avLst>
              <a:gd name="adj" fmla="val 4167"/>
            </a:avLst>
          </a:prstGeom>
          <a:solidFill>
            <a:srgbClr val="A95B95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718596" y="275689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Our Solution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9718596" y="3346609"/>
            <a:ext cx="3986213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Lightweight U-Net trained on SAM2-generated masks, achieving 30Hz inference while maintaining 95.6% Dice score accuracy</a:t>
            </a:r>
            <a:endParaRPr lang="en-US" sz="1900" dirty="0"/>
          </a:p>
        </p:txBody>
      </p:sp>
      <p:pic>
        <p:nvPicPr>
          <p:cNvPr id="10" name="Picture 9" descr="A black background with white spots&#10;&#10;AI-generated content may be incorrect.">
            <a:extLst>
              <a:ext uri="{FF2B5EF4-FFF2-40B4-BE49-F238E27FC236}">
                <a16:creationId xmlns:a16="http://schemas.microsoft.com/office/drawing/2014/main" id="{9938054F-E45C-0B4B-FE70-2BDD8B8A0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7442200"/>
            <a:ext cx="22860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918" y="501848"/>
            <a:ext cx="3842980" cy="480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Dataset &amp; Tasks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011918" y="1224439"/>
            <a:ext cx="10606564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Collected using daVinci Surgical Robot at Stanford Robotics Center, 30Hz video at 576×324 resolution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918" y="1595795"/>
            <a:ext cx="5227558" cy="52275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918" y="6944439"/>
            <a:ext cx="1931908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Object Transfer Task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011918" y="7257217"/>
            <a:ext cx="5227558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Two arms: one picks up object, passes to second arm. 100 demonstrations, 450 frames each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805" y="1595795"/>
            <a:ext cx="5227677" cy="52276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90805" y="6944558"/>
            <a:ext cx="1921431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Object Shifting Task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390805" y="7257336"/>
            <a:ext cx="5227677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Three arms synchronously move objects to bowl. 70 demonstrations, 600 frames each</a:t>
            </a:r>
            <a:endParaRPr lang="en-US" sz="1350" dirty="0"/>
          </a:p>
        </p:txBody>
      </p:sp>
      <p:pic>
        <p:nvPicPr>
          <p:cNvPr id="10" name="Picture 9" descr="A black background with white spots&#10;&#10;AI-generated content may be incorrect.">
            <a:extLst>
              <a:ext uri="{FF2B5EF4-FFF2-40B4-BE49-F238E27FC236}">
                <a16:creationId xmlns:a16="http://schemas.microsoft.com/office/drawing/2014/main" id="{C31792F9-FB00-9100-E5D0-FE8BEE911E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0" y="7442200"/>
            <a:ext cx="22860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738426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Two-Stage Pipeline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1917978"/>
            <a:ext cx="12902327" cy="55730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42869" y="5429124"/>
            <a:ext cx="1915762" cy="620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Mask Propagation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3942869" y="6148674"/>
            <a:ext cx="1915762" cy="837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Cross-frame attention over 600 frames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862052" y="5739275"/>
            <a:ext cx="1915762" cy="31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U-Net Training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8862052" y="6148674"/>
            <a:ext cx="1915762" cy="837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Train lightweight model on 256×256 data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489384" y="2420857"/>
            <a:ext cx="1915762" cy="310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SAM2 Masking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489384" y="2830256"/>
            <a:ext cx="1915762" cy="558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Manual prompts on first frame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242458" y="2420857"/>
            <a:ext cx="1915761" cy="620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Real-Time Inference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1242458" y="3140406"/>
            <a:ext cx="1915761" cy="558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Deploy U-Net for live video masks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432991" y="2420857"/>
            <a:ext cx="1915761" cy="620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Dataset Assembly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6432991" y="3140406"/>
            <a:ext cx="1915761" cy="558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Compile high-quality masks and images</a:t>
            </a:r>
            <a:endParaRPr lang="en-US" sz="1750" dirty="0"/>
          </a:p>
        </p:txBody>
      </p:sp>
      <p:pic>
        <p:nvPicPr>
          <p:cNvPr id="14" name="Picture 13" descr="A black background with white spots&#10;&#10;AI-generated content may be incorrect.">
            <a:extLst>
              <a:ext uri="{FF2B5EF4-FFF2-40B4-BE49-F238E27FC236}">
                <a16:creationId xmlns:a16="http://schemas.microsoft.com/office/drawing/2014/main" id="{0A0AE85A-911A-8F0B-9551-36A5CFBA5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0" y="7458242"/>
            <a:ext cx="22860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014538"/>
            <a:ext cx="670667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Baseline Methods Tested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3194090"/>
            <a:ext cx="4136231" cy="3020854"/>
          </a:xfrm>
          <a:prstGeom prst="roundRect">
            <a:avLst>
              <a:gd name="adj" fmla="val 4843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33557" y="3194090"/>
            <a:ext cx="121920" cy="3020854"/>
          </a:xfrm>
          <a:prstGeom prst="roundRect">
            <a:avLst>
              <a:gd name="adj" fmla="val 85050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32773" y="3471386"/>
            <a:ext cx="347162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Classical Computer Vision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1232773" y="3962400"/>
            <a:ext cx="3490198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HSV thresholding attempted for object detection. Failed due to arms blending with environment, noisy inconsistent masks, no temporal consistency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247084" y="3194090"/>
            <a:ext cx="4136231" cy="3020854"/>
          </a:xfrm>
          <a:prstGeom prst="roundRect">
            <a:avLst>
              <a:gd name="adj" fmla="val 4843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6604" y="3194090"/>
            <a:ext cx="121920" cy="3020854"/>
          </a:xfrm>
          <a:prstGeom prst="roundRect">
            <a:avLst>
              <a:gd name="adj" fmla="val 85050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15821" y="347138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CLIPSeg (Zero-Shot)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5615821" y="3962400"/>
            <a:ext cx="3490198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Natural language prompts produced coarse masks. Unreliable prompt tuning for surgical classes under-represented in training corpus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630132" y="3194090"/>
            <a:ext cx="4136231" cy="3020854"/>
          </a:xfrm>
          <a:prstGeom prst="roundRect">
            <a:avLst>
              <a:gd name="adj" fmla="val 4843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599652" y="3194090"/>
            <a:ext cx="121920" cy="3020854"/>
          </a:xfrm>
          <a:prstGeom prst="roundRect">
            <a:avLst>
              <a:gd name="adj" fmla="val 85050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98869" y="3471386"/>
            <a:ext cx="343126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SAM2 (Foundation Model)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9998869" y="3962400"/>
            <a:ext cx="3490198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High-quality masks but 600ms per frame (1.6 FPS). Manual initialization required, infeasible for real-time robotic control</a:t>
            </a:r>
            <a:endParaRPr lang="en-US" sz="1900" dirty="0"/>
          </a:p>
        </p:txBody>
      </p:sp>
      <p:pic>
        <p:nvPicPr>
          <p:cNvPr id="15" name="Picture 14" descr="A black background with white spots&#10;&#10;AI-generated content may be incorrect.">
            <a:extLst>
              <a:ext uri="{FF2B5EF4-FFF2-40B4-BE49-F238E27FC236}">
                <a16:creationId xmlns:a16="http://schemas.microsoft.com/office/drawing/2014/main" id="{5D42386E-EEA2-4AD6-C6A7-484172AE3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7442200"/>
            <a:ext cx="22860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779859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U-Net Architecture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2082760"/>
            <a:ext cx="337256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Encoder-Decoder Design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64037" y="2672477"/>
            <a:ext cx="3406854" cy="469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Two convolutional blocks with 3×3 convolutions and ReLU activations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MaxPooling for spatial downsampling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Bottleneck layer with 256 channels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Transposed convolutions for upsampling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Skip connections preserve spatial details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880729" y="208276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Training Details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4880729" y="2672477"/>
            <a:ext cx="3406854" cy="2715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Input: 256×256 RGB frames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Loss: Binary Cross-Entropy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Optimizer: Adam (1e-4 learning rate)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Batch size: 4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Convergence: 60 epochs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295995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Qualitative Results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57" y="2633782"/>
            <a:ext cx="3073718" cy="307371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780" y="2633782"/>
            <a:ext cx="3073718" cy="307371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3903" y="2633782"/>
            <a:ext cx="3073718" cy="3073718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5026" y="2633782"/>
            <a:ext cx="3073718" cy="307371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64037" y="6143387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U-Net segmentation outputs match SAM2 quality (95.6% Dice), enabling real-time deployment at 30Hz for closed-loop robotic control</a:t>
            </a:r>
            <a:endParaRPr lang="en-US" sz="1900" dirty="0"/>
          </a:p>
        </p:txBody>
      </p:sp>
      <p:pic>
        <p:nvPicPr>
          <p:cNvPr id="8" name="Picture 7" descr="A black background with white spots&#10;&#10;AI-generated content may be incorrect.">
            <a:extLst>
              <a:ext uri="{FF2B5EF4-FFF2-40B4-BE49-F238E27FC236}">
                <a16:creationId xmlns:a16="http://schemas.microsoft.com/office/drawing/2014/main" id="{20C6C7DB-97A7-1DDB-3FB7-D34B43E72B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4400" y="7442200"/>
            <a:ext cx="22860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924639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Future Directions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437" y="1980724"/>
            <a:ext cx="1234440" cy="177474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31693" y="222754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Imitation Learning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831693" y="2718554"/>
            <a:ext cx="593467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Integrate masks into policy networks controlling third robotic arm for autonomous assistance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437" y="3755469"/>
            <a:ext cx="1234440" cy="177474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31693" y="400228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Depth Estimation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831693" y="4493300"/>
            <a:ext cx="593467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Estimate depth from RGB sequences to provide richer inputs for manipulation policies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437" y="5530215"/>
            <a:ext cx="1234440" cy="177474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831693" y="577703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Subtask Recognition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831693" y="6268045"/>
            <a:ext cx="593467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Video classification to predict specific surgical subtasks for intelligent assistance</a:t>
            </a:r>
            <a:endParaRPr lang="en-US" sz="1900" dirty="0"/>
          </a:p>
        </p:txBody>
      </p:sp>
      <p:pic>
        <p:nvPicPr>
          <p:cNvPr id="13" name="Picture 12" descr="A black background with white spots&#10;&#10;AI-generated content may be incorrect.">
            <a:extLst>
              <a:ext uri="{FF2B5EF4-FFF2-40B4-BE49-F238E27FC236}">
                <a16:creationId xmlns:a16="http://schemas.microsoft.com/office/drawing/2014/main" id="{ABC6D9D6-D70A-CF17-7723-6B0F37F92B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4400" y="7442200"/>
            <a:ext cx="2286000" cy="78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435</Words>
  <Application>Microsoft Macintosh PowerPoint</Application>
  <PresentationFormat>Custom</PresentationFormat>
  <Paragraphs>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Prompt Medium</vt:lpstr>
      <vt:lpstr>Mukta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Lankireddy Vinith  Reddy</cp:lastModifiedBy>
  <cp:revision>3</cp:revision>
  <dcterms:created xsi:type="dcterms:W3CDTF">2026-03-23T18:40:49Z</dcterms:created>
  <dcterms:modified xsi:type="dcterms:W3CDTF">2026-03-24T17:39:45Z</dcterms:modified>
</cp:coreProperties>
</file>